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Campus Art Market Survey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Following the 5-Step Research Design Process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1: Define Research Question/Problem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Research Problem</a:t>
            </a:r>
          </a:p>
          <a:p>
            <a:pPr lvl="0" indent="0" marL="0">
              <a:buNone/>
            </a:pPr>
            <a:r>
              <a:rPr b="1"/>
              <a:t>“Is there sufficient student interest and viability for establishing a regular Campus Art Market?”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Research Questions</a:t>
            </a:r>
          </a:p>
          <a:p>
            <a:pPr lvl="0"/>
            <a:r>
              <a:rPr b="1"/>
              <a:t>Why collect data?</a:t>
            </a:r>
            <a:r>
              <a:rPr/>
              <a:t> To determine if students would actively participate in and support an on-campus art market</a:t>
            </a:r>
          </a:p>
          <a:p>
            <a:pPr lvl="0"/>
            <a:r>
              <a:rPr b="1"/>
              <a:t>What do we want to understand?</a:t>
            </a:r>
          </a:p>
          <a:p>
            <a:pPr lvl="1"/>
            <a:r>
              <a:rPr/>
              <a:t>Student demographics and art-buying behavior</a:t>
            </a:r>
          </a:p>
          <a:p>
            <a:pPr lvl="1"/>
            <a:r>
              <a:rPr/>
              <a:t>Level of interest in a campus art market</a:t>
            </a:r>
          </a:p>
          <a:p>
            <a:pPr lvl="1"/>
            <a:r>
              <a:rPr/>
              <a:t>Preferred products, timing, and location</a:t>
            </a:r>
          </a:p>
          <a:p>
            <a:pPr lvl="1"/>
            <a:r>
              <a:rPr/>
              <a:t>Willingness of student artists to participate as vendors</a:t>
            </a:r>
          </a:p>
          <a:p>
            <a:pPr lvl="1"/>
            <a:r>
              <a:rPr/>
              <a:t>Optimal market format and logistics</a:t>
            </a:r>
          </a:p>
          <a:p>
            <a:pPr lvl="0"/>
            <a:r>
              <a:rPr b="1"/>
              <a:t>What type of data is needed?</a:t>
            </a:r>
            <a:r>
              <a:rPr/>
              <a:t> Quantitative data through structured survey with multiple scaling formats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2: Identify Key Metrics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Description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Student Demographics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Academic standing, art purchasing habits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Market Interest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Overall attitude, likelihood to attend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Product Preferences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Types of art/products students want to buy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Spending Behavior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much students are willing to spend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Market Logistics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Preferred location, timing, frequency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Vendor Interest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Willingness of student artists to sell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Experience Factors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Atmosphere, variety, affordability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Payment Preferences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Cash, digital, cards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3: Design Questions on Each Metric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Metric 1: Student Demographics</a:t>
            </a:r>
          </a:p>
          <a:p>
            <a:pPr lvl="0" indent="0" marL="0">
              <a:buNone/>
            </a:pPr>
            <a:r>
              <a:rPr b="1"/>
              <a:t>Q1. What is your current academic standing?</a:t>
            </a:r>
            <a:r>
              <a:rPr/>
              <a:t> - [ ] Freshman - [ ] Sophomore - [ ] Junior - [ ] Senior - [ ] Graduate Student - [ ] Faculty/Staff</a:t>
            </a:r>
          </a:p>
          <a:p>
            <a:pPr lvl="0" indent="0" marL="0">
              <a:buNone/>
            </a:pPr>
            <a:r>
              <a:rPr b="1"/>
              <a:t>Q2. How often do you purchase art, crafts, or creative goods?</a:t>
            </a:r>
            <a:r>
              <a:rPr/>
              <a:t> - [ ] Never - [ ] Rarely (Once or twice a year) - [ ] Occasionally (Every few months) - [ ] Frequently (Monthly or more) - [ ] Very Frequently (Weekly)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Metric 2: Market Interest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Q3. How interested would you be in visiting a monthly “Campus Art Market” featuring student artists?</a:t>
            </a:r>
            <a:r>
              <a:rPr/>
              <a:t> - [ ] Not at all interested - [ ] Slightly interested - [ ] Moderately interested - [ ] Very interested - [ ] Extremely interested</a:t>
            </a:r>
          </a:p>
          <a:p>
            <a:pPr lvl="0" indent="0" marL="0">
              <a:buNone/>
            </a:pPr>
            <a:r>
              <a:rPr b="1"/>
              <a:t>Q4. How likely are you to purchase something from a Campus Art Market?</a:t>
            </a:r>
            <a:r>
              <a:rPr/>
              <a:t> - [ ] Very unlikely - [ ] Unlikely - [ ] Neutral - [ ] Likely - [ ] Very likely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Metric 3: Product Preferences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Q5. Which types of art/products would you be most interested in buying?</a:t>
            </a:r>
            <a:r>
              <a:rPr/>
              <a:t> (Select all that apply) - [ ] Paintings/Prints - [ ] Photography - [ ] Handmade Jewelry - [ ] Pottery/Ceramics - [ ] Sculptures - [ ] Textiles/Clothing - [ ] Stickers/Stationery - [ ] Customized Items - [ ] Digital Art - [ ] Other: _____________</a:t>
            </a:r>
          </a:p>
          <a:p>
            <a:pPr lvl="0" indent="0" marL="0">
              <a:buNone/>
            </a:pPr>
            <a:r>
              <a:rPr b="1"/>
              <a:t>Q6. Rank the following product categories in order of your preference</a:t>
            </a:r>
            <a:r>
              <a:rPr/>
              <a:t> (1 = Most preferred, 6 = Least preferred) - ___ Original Artwork (Paintings, Prints) - ___ Wearable Art (Jewelry, Custom Clothing) - ___ Home Decor (Pottery, Sculptures) - ___ Functional Art (Stationery, Accessories) - ___ Digital Art/Prints - ___ Custom/Personalized Items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Metric 4: Spending Behavior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Q7. What is the average amount you would be willing to spend per visit to a Campus Art Market?</a:t>
            </a:r>
            <a:r>
              <a:rPr/>
              <a:t> - [ ] Less than $10 - [ ] $10 - $25 - [ ] $26 - $50 - [ ] $51 - $100 - [ ] More than $100</a:t>
            </a:r>
          </a:p>
          <a:p>
            <a:pPr lvl="0" indent="0" marL="0">
              <a:buNone/>
            </a:pPr>
            <a:r>
              <a:rPr b="1"/>
              <a:t>Q8. If you had 100 points to distribute across different product categories at an art market, how would you allocate them?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Points (0-100)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Paintings/Prints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_____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Jewelry/Accessories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_____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Pottery/Crafts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_____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Photography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_____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Custom Items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_____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Stationery/Stickers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_____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Metric 5: Market Logistics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Q9. What would be your preferred location for a Campus Art Market?</a:t>
            </a:r>
            <a:r>
              <a:rPr/>
              <a:t> - [ ] Student Union/Student Center - [ ] Quad/Outdoor Lawn - [ ] Library Plaza - [ ] Near Dining Halls - [ ] Academic Building Atrium - [ ] Other: _____________</a:t>
            </a:r>
          </a:p>
          <a:p>
            <a:pPr lvl="0" indent="0" marL="0">
              <a:buNone/>
            </a:pPr>
            <a:r>
              <a:rPr b="1"/>
              <a:t>Q10. What would be your preferred day and time for a Campus Art Market?</a:t>
            </a:r>
            <a:r>
              <a:rPr/>
              <a:t> (Select all that apply) - [ ] Weekday mornings (9 AM - 12 PM) - [ ] Weekday afternoons (12 PM - 5 PM) - [ ] Weekday evenings (5 PM - 9 PM) - [ ] Weekend mornings - [ ] Weekend afternoons - [ ] Weekend evenings</a:t>
            </a:r>
          </a:p>
          <a:p>
            <a:pPr lvl="0" indent="0" marL="0">
              <a:buNone/>
            </a:pPr>
            <a:r>
              <a:rPr b="1"/>
              <a:t>Q11. How often should the Campus Art Market be held?</a:t>
            </a:r>
            <a:r>
              <a:rPr/>
              <a:t> - [ ] Weekly - [ ] Bi-weekly - [ ] Monthly - [ ] Once per semester - [ ] Special events only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Metric 6: Experience Factors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Q12. How important are the following factors to your market experience?</a:t>
            </a:r>
            <a:r>
              <a:rPr/>
              <a:t> (1 = Not Important, 5 = Very Important)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900"/>
                <a:gridCol w="850900"/>
                <a:gridCol w="850900"/>
                <a:gridCol w="850900"/>
                <a:gridCol w="850900"/>
                <a:gridCol w="850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Factor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Clean and organized setup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Good lighting to see products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Music/Entertainment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Enough space to browse comfortably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Attractive booth displays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Ability to interact with artists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Metric 7: Product Availability &amp; Variety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Q13. Rate your agreement with the following statements: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4700"/>
                <a:gridCol w="1346200"/>
                <a:gridCol w="711200"/>
                <a:gridCol w="635000"/>
                <a:gridCol w="495300"/>
                <a:gridCol w="1130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Strongly Disagree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Disagree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Neutral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Strongly Agree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 want to see a wide variety of art styles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 prefer unique, one-of-a-kind items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I’m interested in affordable, small items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 want to see different price ranges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I’d like to see rotating artists each time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Metric 8: Pricing &amp; Promotions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Q14. How important are the following pricing factors?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"/>
                <a:gridCol w="749300"/>
                <a:gridCol w="1003300"/>
                <a:gridCol w="1104900"/>
                <a:gridCol w="800100"/>
                <a:gridCol w="1054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Factor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Important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Slightly Important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Moderately Important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Very Important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Extremely Important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Affordable prices (under $25)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Mid-range items ($25-$50)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Premium items ($50+)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Student discounts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Bundle deals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Loyalty program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Metric 9: Payment Preferences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Q15. What payment methods would you prefer to use at the market?</a:t>
            </a:r>
            <a:r>
              <a:rPr/>
              <a:t> (Select all that apply) - [ ] Cash - [ ] Credit/Debit Card - [ ] Mobile Payments (Apple Pay, Google Pay) - [ ] Venmo/PayPal - [ ] Student ID/Campus Card - [ ] Cryptocurrency</a:t>
            </a:r>
          </a:p>
          <a:p>
            <a:pPr lvl="0" indent="0" marL="0">
              <a:buNone/>
            </a:pPr>
            <a:r>
              <a:rPr b="1"/>
              <a:t>Q16. How important is it that vendors accept digital payments?</a:t>
            </a:r>
            <a:r>
              <a:rPr/>
              <a:t> - [ ] Not important - [ ] Somewhat important - [ ] Neutral - [ ] Important - [ ] Essential - I rarely carry cash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Metric 10: Vendor/Artist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Q17. Are you a student artist/crafter who would be interested in selling at a Campus Art Market?</a:t>
            </a:r>
            <a:r>
              <a:rPr/>
              <a:t> - [ ] Yes, definitely interested - [ ] Maybe, depending on details - [ ] Not interested - [ ] I am not an artist</a:t>
            </a:r>
          </a:p>
          <a:p>
            <a:pPr lvl="0" indent="0" marL="0">
              <a:buNone/>
            </a:pPr>
            <a:r>
              <a:rPr b="1"/>
              <a:t>Q18. If you were to sell at the market, what type of art would you offer?</a:t>
            </a:r>
            <a:r>
              <a:rPr/>
              <a:t> (Select all that apply) - [ ] 2D Art (Paintings, Drawings, Prints) - [ ] 3D Art (Pottery, Sculptures) - [ ] Photography - [ ] Jewelry/Accessories - [ ] Textiles/Fashion - [ ] Digital Art - [ ] Custom/Personalized Items - [ ] Other: _____________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Metric 10: Vendor/Artist Perspective (Continued)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Q19. What would be your main motivation for selling at a Campus Art Market?</a:t>
            </a:r>
            <a:r>
              <a:rPr/>
              <a:t> (Rank 1-4) - ___ Earn money - ___ Gain exposure/build portfolio - ___ Connect with other artists - ___ Test market for products</a:t>
            </a:r>
          </a:p>
          <a:p>
            <a:pPr lvl="0" indent="0" marL="0">
              <a:buNone/>
            </a:pPr>
            <a:r>
              <a:rPr b="1"/>
              <a:t>Q20. As a potential vendor, what support would you need?</a:t>
            </a:r>
            <a:r>
              <a:rPr/>
              <a:t> (Select all that apply) - [ ] Affordable booth fees - [ ] Tables/chairs provided - [ ] Marketing/promotion - [ ] Payment processing assistance - [ ] Workshops on selling - [ ] Storage for inventory - [ ] Other: _____________</a:t>
            </a:r>
          </a:p>
          <a:p>
            <a:pPr lvl="0" indent="0" marL="0">
              <a:buNone/>
            </a:pPr>
            <a:r>
              <a:rPr b="1"/>
              <a:t>Q21. As a vendor, distribute 50 points across your priorities: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Priority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Points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Selling price/Profit margin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_____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Number of customers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_____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Building repeat customers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_____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Networking with other artists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_____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Learning about the market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_____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Metric 11: Communication &amp; Awareness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Q22. How would you prefer to learn about upcoming Campus Art Markets?</a:t>
            </a:r>
            <a:r>
              <a:rPr/>
              <a:t> (Select all that apply) - [ ] Email - [ ] Social Media (Instagram, TikTok) - [ ] Campus Announcements - [ ] Posters/Flyers - [ ] Word of mouth - [ ] Student organization newsletters - [ ] QR codes around campus</a:t>
            </a:r>
          </a:p>
          <a:p>
            <a:pPr lvl="0" indent="0" marL="0">
              <a:buNone/>
            </a:pPr>
            <a:r>
              <a:rPr b="1"/>
              <a:t>Q23. Would you sign up for a mailing list to get updates about the Campus Art Market?</a:t>
            </a:r>
            <a:r>
              <a:rPr/>
              <a:t> - [ ] Yes - [ ] No - [ ] Maybe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Overall Feedback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Q24. What would make you MORE likely to attend a Campus Art Market?</a:t>
            </a:r>
            <a:r>
              <a:rPr/>
              <a:t> (Open-ended)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Q25. What concerns or suggestions do you have for a Campus Art Market?</a:t>
            </a:r>
            <a:r>
              <a:rPr/>
              <a:t> (Open-ended)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4: Expert Panel Evaluation Checklist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3500"/>
                <a:gridCol w="1460500"/>
                <a:gridCol w="1460500"/>
                <a:gridCol w="1460500"/>
                <a:gridCol w="1244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Evaluation Criteria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Expert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Expert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Expert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Action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Questions align with research objectives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Clear and unambiguous wording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Appropriate scaling formats used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leading or biased questions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Comprehensive coverage of all metrics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Logical flow and sequencing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Appropriate length (not too long)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Culturally appropriate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Expert Panel Feedback 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Name of Expert:</a:t>
            </a:r>
            <a:r>
              <a:rPr/>
              <a:t> ____________________ </a:t>
            </a:r>
            <a:r>
              <a:rPr b="1"/>
              <a:t>Date:</a:t>
            </a:r>
            <a:r>
              <a:rPr/>
              <a:t> ____________________</a:t>
            </a:r>
          </a:p>
          <a:p>
            <a:pPr lvl="0" indent="0" marL="0">
              <a:buNone/>
            </a:pPr>
            <a:r>
              <a:rPr b="1"/>
              <a:t>Area of Expertise:</a:t>
            </a:r>
            <a:r>
              <a:rPr/>
              <a:t> ____________________</a:t>
            </a:r>
          </a:p>
          <a:p>
            <a:pPr lvl="0" indent="0" marL="0">
              <a:buNone/>
            </a:pPr>
            <a:r>
              <a:rPr b="1"/>
              <a:t>Overall Comments:</a:t>
            </a:r>
            <a:r>
              <a:rPr/>
              <a:t> _______________________________________________ _______________________________________________</a:t>
            </a:r>
          </a:p>
          <a:p>
            <a:pPr lvl="0" indent="0" marL="0">
              <a:buNone/>
            </a:pPr>
            <a:r>
              <a:rPr b="1"/>
              <a:t>Specific Recommendations:</a:t>
            </a:r>
            <a:r>
              <a:rPr/>
              <a:t> 1. _____________________________________________ 2. _____________________________________________ 3. _____________________________________________</a:t>
            </a:r>
          </a:p>
          <a:p>
            <a:pPr lvl="0" indent="0" marL="0">
              <a:buNone/>
            </a:pPr>
            <a:r>
              <a:rPr b="1"/>
              <a:t>Suggested Additions/Deletions:</a:t>
            </a:r>
            <a:r>
              <a:rPr/>
              <a:t> _______________________________________________</a:t>
            </a:r>
          </a:p>
          <a:p>
            <a:pPr lvl="0" indent="0" marL="0">
              <a:buNone/>
            </a:pPr>
            <a:r>
              <a:rPr b="1"/>
              <a:t>Signature:</a:t>
            </a:r>
            <a:r>
              <a:rPr/>
              <a:t> ____________________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5: Pilot Study and Validation 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Pilot Study Feedback Form (For Respondents)</a:t>
            </a:r>
          </a:p>
          <a:p>
            <a:pPr lvl="0" indent="0" marL="0">
              <a:buNone/>
            </a:pPr>
            <a:r>
              <a:rPr b="1"/>
              <a:t>Thank you for participating in our pilot study! Please provide feedback on the survey itself:</a:t>
            </a:r>
          </a:p>
          <a:p>
            <a:pPr lvl="0" indent="0" marL="0">
              <a:buNone/>
            </a:pPr>
            <a:r>
              <a:rPr b="1"/>
              <a:t>Q1. How long did it take you to complete this survey?</a:t>
            </a:r>
            <a:r>
              <a:rPr/>
              <a:t> - [ ] Less than 5 minutes - [ ] 5-10 minutes - [ ] 10-15 minutes - [ ] More than 15 minutes</a:t>
            </a:r>
          </a:p>
          <a:p>
            <a:pPr lvl="0" indent="0" marL="0">
              <a:buNone/>
            </a:pPr>
            <a:r>
              <a:rPr b="1"/>
              <a:t>Q2. Were any questions difficult to understand? If yes, please specify which ones:</a:t>
            </a:r>
            <a:r>
              <a:rPr/>
              <a:t> _______________________________________________ _______________________________________________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Pilot Study Feedback Form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Q3. Were any questions unclear or ambiguous? If yes, please specify:</a:t>
            </a:r>
            <a:r>
              <a:rPr/>
              <a:t> _______________________________________________ _______________________________________________</a:t>
            </a:r>
          </a:p>
          <a:p>
            <a:pPr lvl="0" indent="0" marL="0">
              <a:buNone/>
            </a:pPr>
            <a:r>
              <a:rPr b="1"/>
              <a:t>Q4. Did you encounter any technical issues while filling out the survey?</a:t>
            </a:r>
            <a:r>
              <a:rPr/>
              <a:t> - [ ] No issues - [ ] Yes (please describe): _________________________________</a:t>
            </a:r>
          </a:p>
          <a:p>
            <a:pPr lvl="0" indent="0" marL="0">
              <a:buNone/>
            </a:pPr>
            <a:r>
              <a:rPr b="1"/>
              <a:t>Q5. Was the language appropriate and easy to understand?</a:t>
            </a:r>
            <a:r>
              <a:rPr/>
              <a:t> - [ ] Yes, completely - [ ] Mostly yes - [ ] No, some terms were confusing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Pilot Study Feedback Form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Q6. Were there any questions you felt were unnecessary or redundant?</a:t>
            </a:r>
            <a:r>
              <a:rPr/>
              <a:t> _______________________________________________</a:t>
            </a:r>
          </a:p>
          <a:p>
            <a:pPr lvl="0" indent="0" marL="0">
              <a:buNone/>
            </a:pPr>
            <a:r>
              <a:rPr b="1"/>
              <a:t>Q7. Were there any topics missing that should be covered?</a:t>
            </a:r>
            <a:r>
              <a:rPr/>
              <a:t> _______________________________________________</a:t>
            </a:r>
          </a:p>
          <a:p>
            <a:pPr lvl="0" indent="0" marL="0">
              <a:buNone/>
            </a:pPr>
            <a:r>
              <a:rPr b="1"/>
              <a:t>Q8. Any other feedback or suggestions to improve this survey?</a:t>
            </a:r>
            <a:r>
              <a:rPr/>
              <a:t> _______________________________________________ _______________________________________________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Pilot Study Observer Checklist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6300"/>
                <a:gridCol w="1689100"/>
                <a:gridCol w="1689100"/>
                <a:gridCol w="1689100"/>
                <a:gridCol w="1028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Observation 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Respondent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Respondent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Respondent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Notes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Time taken to complete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Hesitation on specific questions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Asked for clarification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Skipped questions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Facial expressions (confusion/frustration)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Comments made during survey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Pilot Study Summary Report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Date of Pilot:</a:t>
            </a:r>
            <a:r>
              <a:rPr/>
              <a:t> ____________________ </a:t>
            </a:r>
            <a:r>
              <a:rPr b="1"/>
              <a:t>Sample Size:</a:t>
            </a:r>
            <a:r>
              <a:rPr/>
              <a:t> _____ respondents </a:t>
            </a:r>
            <a:r>
              <a:rPr b="1"/>
              <a:t>Average Completion Time:</a:t>
            </a:r>
            <a:r>
              <a:rPr/>
              <a:t> _____ minutes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Action Required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 Clarity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Language/Meaning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Technical Issues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Missing Topics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Redundant Questions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Survey Length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Response Rate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Pilot Study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Recommendations for Final Survey:</a:t>
            </a:r>
            <a:r>
              <a:rPr/>
              <a:t> 1. _______________________________________________ 2. _______________________________________________ 3. _______________________________________________</a:t>
            </a:r>
          </a:p>
          <a:p>
            <a:pPr lvl="0" indent="0" marL="0">
              <a:buNone/>
            </a:pPr>
            <a:r>
              <a:rPr b="1"/>
              <a:t>Approved by:</a:t>
            </a:r>
            <a:r>
              <a:rPr/>
              <a:t> ____________________ </a:t>
            </a:r>
            <a:r>
              <a:rPr b="1"/>
              <a:t>Date:</a:t>
            </a:r>
            <a:r>
              <a:rPr/>
              <a:t> ____________________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Summary: How This Questionnaire Answers the 5 Questions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5700"/>
                <a:gridCol w="5803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How It’s Addressed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 Define Research Question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survey is built around understanding student interest, preferences, and viability of a campus art market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 Identify Key Metrics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 key metrics identified: Demographics, Interest, Products, Spending, Logistics, Experience, Availability, Pricing, Payments, Vendor Perspective, Communication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3. Design Questions on Each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 questions designed covering all metrics with appropriate scaling formats (Likert, Rank-Order, Constant Sum, Multiple Choice, Open-ended)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4. Expert Panel Evaluation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Expert evaluation checklist and feedback form provided for content validation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5. Pilot Study and Validation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Pilot study feedback forms and observer checklist included for testing with 75-100 respondents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Ready for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This questionnaire is now ready for:</a:t>
            </a:r>
          </a:p>
          <a:p>
            <a:pPr lvl="0" indent="-342900" marL="342900">
              <a:buAutoNum type="arabicPeriod"/>
            </a:pPr>
            <a:r>
              <a:rPr/>
              <a:t>✅ Expert panel review</a:t>
            </a:r>
          </a:p>
          <a:p>
            <a:pPr lvl="0" indent="-342900" marL="342900">
              <a:buAutoNum type="arabicPeriod"/>
            </a:pPr>
            <a:r>
              <a:rPr/>
              <a:t>✅ Pilot testing with 75-100 students</a:t>
            </a:r>
          </a:p>
          <a:p>
            <a:pPr lvl="0" indent="-342900" marL="342900">
              <a:buAutoNum type="arabicPeriod"/>
            </a:pPr>
            <a:r>
              <a:rPr/>
              <a:t>✅ Revision based on feedback</a:t>
            </a:r>
          </a:p>
          <a:p>
            <a:pPr lvl="0" indent="-342900" marL="342900">
              <a:buAutoNum type="arabicPeriod"/>
            </a:pPr>
            <a:r>
              <a:rPr/>
              <a:t>✅ Full-scale deployment</a:t>
            </a:r>
          </a:p>
          <a:p>
            <a:pPr lvl="0" indent="-342900" marL="342900">
              <a:buAutoNum type="arabicPeriod"/>
            </a:pPr>
            <a:r>
              <a:rPr/>
              <a:t>✅ Data collection and analysis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Campus Art Market Survey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5-Step Research Design Process</a:t>
            </a:r>
          </a:p>
          <a:p>
            <a:pPr lvl="0" indent="0" marL="0">
              <a:buNone/>
            </a:pPr>
            <a:r>
              <a:rPr b="1"/>
              <a:t>End of Presentation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2026-03-15T17:35:28Z</dcterms:created>
  <dcterms:modified xsi:type="dcterms:W3CDTF">2026-03-15T17:35:28Z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