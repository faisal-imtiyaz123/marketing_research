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Campus Art Market Survey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Your Name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Campus Art Market Survey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Student Interest in an On-Campus Art Market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Research Objectives</a:t>
            </a:r>
          </a:p>
          <a:p>
            <a:pPr lvl="0"/>
            <a:r>
              <a:rPr/>
              <a:t>Methodology</a:t>
            </a:r>
          </a:p>
          <a:p>
            <a:pPr lvl="0"/>
            <a:r>
              <a:rPr/>
              <a:t>Survey Design &amp; Structure</a:t>
            </a:r>
          </a:p>
          <a:p>
            <a:pPr lvl="0"/>
            <a:r>
              <a:rPr/>
              <a:t>Question Types &amp; Scaling Formats</a:t>
            </a:r>
          </a:p>
          <a:p>
            <a:pPr lvl="0"/>
            <a:r>
              <a:rPr/>
              <a:t>Data Collection Plan</a:t>
            </a:r>
          </a:p>
          <a:p>
            <a:pPr lvl="0"/>
            <a:r>
              <a:rPr/>
              <a:t>Expected Outcomes</a:t>
            </a:r>
          </a:p>
          <a:p>
            <a:pPr lvl="0"/>
            <a:r>
              <a:rPr/>
              <a:t>Q&amp;A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🎯 Primary Objective:</a:t>
            </a:r>
            <a:r>
              <a:rPr/>
              <a:t> To understand student interest in a campus-based art market</a:t>
            </a:r>
          </a:p>
          <a:p>
            <a:pPr lvl="0" indent="0" marL="0">
              <a:buNone/>
            </a:pPr>
            <a:r>
              <a:rPr b="1"/>
              <a:t>🔍 Specific Objectives:</a:t>
            </a:r>
          </a:p>
          <a:p>
            <a:pPr lvl="0"/>
            <a:r>
              <a:rPr/>
              <a:t>Assess student demographics &amp; art purchasing behavior</a:t>
            </a:r>
          </a:p>
          <a:p>
            <a:pPr lvl="0"/>
            <a:r>
              <a:rPr/>
              <a:t>Measure interest levels in campus art market</a:t>
            </a:r>
          </a:p>
          <a:p>
            <a:pPr lvl="0"/>
            <a:r>
              <a:rPr/>
              <a:t>Identify preferred product categories</a:t>
            </a:r>
          </a:p>
          <a:p>
            <a:pPr lvl="0"/>
            <a:r>
              <a:rPr/>
              <a:t>Determine optimal market logistics</a:t>
            </a:r>
          </a:p>
          <a:p>
            <a:pPr lvl="0"/>
            <a:r>
              <a:rPr/>
              <a:t>Evaluate student artist participation interest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Research Design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Quantitative Survey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 Population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University Students (Freshmen to Graduate)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75-100 (Pilot Study)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Collection Method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Online + Face-to-face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Survey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A: Demographics &amp; Art Interest</a:t>
            </a:r>
          </a:p>
          <a:p>
            <a:pPr lvl="0"/>
            <a:r>
              <a:rPr/>
              <a:t>Academic standing</a:t>
            </a:r>
          </a:p>
          <a:p>
            <a:pPr lvl="0"/>
            <a:r>
              <a:rPr/>
              <a:t>Purchase frequency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B: Market Interest &amp; Preferences</a:t>
            </a:r>
          </a:p>
          <a:p>
            <a:pPr lvl="0"/>
            <a:r>
              <a:rPr/>
              <a:t>Interest levels</a:t>
            </a:r>
          </a:p>
          <a:p>
            <a:pPr lvl="0"/>
            <a:r>
              <a:rPr/>
              <a:t>Product preferences</a:t>
            </a:r>
          </a:p>
          <a:p>
            <a:pPr lvl="0"/>
            <a:r>
              <a:rPr/>
              <a:t>Spending allocation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C: Market Logistics &amp; Experience</a:t>
            </a:r>
          </a:p>
          <a:p>
            <a:pPr lvl="0"/>
            <a:r>
              <a:rPr/>
              <a:t>Location, timing, payments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D: Student Artist Perspective</a:t>
            </a:r>
          </a:p>
          <a:p>
            <a:pPr lvl="0"/>
            <a:r>
              <a:rPr/>
              <a:t>Artist categories</a:t>
            </a:r>
          </a:p>
          <a:p>
            <a:pPr lvl="0"/>
            <a:r>
              <a:rPr/>
              <a:t>Motivations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Scaling Formats Used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Differential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5-point 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Uninteresting ↔ Interesting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Stapel 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 to +5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 appeal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Paired Comparison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Forced choice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 preferences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Constant Sum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Distribute 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100/50 allocation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Rank-Order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1-5 ranking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Factor importance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Likert 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5-point agreement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Statement agreement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Q-Sort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 sorting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Artist type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A: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Q1. Academic Standing</a:t>
            </a:r>
          </a:p>
          <a:p>
            <a:pPr lvl="0"/>
            <a:r>
              <a:rPr/>
              <a:t>☐ Freshman</a:t>
            </a:r>
          </a:p>
          <a:p>
            <a:pPr lvl="0"/>
            <a:r>
              <a:rPr/>
              <a:t>☐ Sophomore</a:t>
            </a:r>
          </a:p>
          <a:p>
            <a:pPr lvl="0"/>
            <a:r>
              <a:rPr/>
              <a:t>☐ Junior</a:t>
            </a:r>
          </a:p>
          <a:p>
            <a:pPr lvl="0"/>
            <a:r>
              <a:rPr/>
              <a:t>☐ Senior</a:t>
            </a:r>
          </a:p>
          <a:p>
            <a:pPr lvl="0"/>
            <a:r>
              <a:rPr/>
              <a:t>☐ Graduate Student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Q2. Purchase Frequency</a:t>
            </a:r>
          </a:p>
          <a:p>
            <a:pPr lvl="0"/>
            <a:r>
              <a:rPr/>
              <a:t>☐ Never</a:t>
            </a:r>
          </a:p>
          <a:p>
            <a:pPr lvl="0"/>
            <a:r>
              <a:rPr/>
              <a:t>☐ Rarely (Once or twice a year)</a:t>
            </a:r>
          </a:p>
          <a:p>
            <a:pPr lvl="0"/>
            <a:r>
              <a:rPr/>
              <a:t>☐ Occasionally (Every few months)</a:t>
            </a:r>
          </a:p>
          <a:p>
            <a:pPr lvl="0"/>
            <a:r>
              <a:rPr/>
              <a:t>☐ Frequently (Monthly or more)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B: Semantic Differential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Q3. How do you feel about a Campus Art Market?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Uninteresting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Interesting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Inconvenient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Convenient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Waste of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Valuable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B: Stapel Scale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Q4. Rate feature appeal (-5 to +5)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  <a:gridCol w="419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 Variety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Affordable Prices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Meet the Artists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B: Paired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Q5. Product Preferences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 B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 Paintings/Prints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 Jewelry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 Customizable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 Ready-made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B: Constant Sum Scale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Q6. Distribute 100 points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Points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Paintings/Prints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______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Jewelry/Accessories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______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Crafts/Pottery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______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Stationery/Stickers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______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C: Rank-Order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Q7. Rank factors (1=Most Important, 5=Least)</a:t>
            </a:r>
          </a:p>
          <a:p>
            <a:pPr lvl="0"/>
            <a:r>
              <a:rPr/>
              <a:t>___ Product Variety &amp; Uniqueness</a:t>
            </a:r>
          </a:p>
          <a:p>
            <a:pPr lvl="0"/>
            <a:r>
              <a:rPr/>
              <a:t>___ Affordable Prices</a:t>
            </a:r>
          </a:p>
          <a:p>
            <a:pPr lvl="0"/>
            <a:r>
              <a:rPr/>
              <a:t>___ Convenient Location</a:t>
            </a:r>
          </a:p>
          <a:p>
            <a:pPr lvl="0"/>
            <a:r>
              <a:rPr/>
              <a:t>___ Fun Atmosphere</a:t>
            </a:r>
          </a:p>
          <a:p>
            <a:pPr lvl="0"/>
            <a:r>
              <a:rPr/>
              <a:t>___ Timing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Section C: Likert Scale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Q8. Agreement Level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High-traffic area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Weekend preferred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Digital payments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SD=Strongly Disagree, D=Disagree, N=Neutral, A=Agree, SA=Strongly Agree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D: Artist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Q9. Artist Category</a:t>
            </a:r>
          </a:p>
          <a:p>
            <a:pPr lvl="0"/>
            <a:r>
              <a:rPr/>
              <a:t>☐ 2D Art (paintings, prints, photography)</a:t>
            </a:r>
          </a:p>
          <a:p>
            <a:pPr lvl="0"/>
            <a:r>
              <a:rPr/>
              <a:t>☐ 3D Art (pottery, sculptures, jewelry)</a:t>
            </a:r>
          </a:p>
          <a:p>
            <a:pPr lvl="0"/>
            <a:r>
              <a:rPr/>
              <a:t>☐ Functional Art (clothing, stickers, stationery)</a:t>
            </a:r>
          </a:p>
          <a:p>
            <a:pPr lvl="0"/>
            <a:r>
              <a:rPr/>
              <a:t>☐ Not an artist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Q10. Distribute 50 points</a:t>
            </a:r>
          </a:p>
          <a:p>
            <a:pPr lvl="0"/>
            <a:r>
              <a:rPr/>
              <a:t>Earn money: ______</a:t>
            </a:r>
          </a:p>
          <a:p>
            <a:pPr lvl="0"/>
            <a:r>
              <a:rPr/>
              <a:t>Gain exposure: ______</a:t>
            </a:r>
          </a:p>
          <a:p>
            <a:pPr lvl="0"/>
            <a:r>
              <a:rPr/>
              <a:t>Connect with artists: ______</a:t>
            </a:r>
          </a:p>
          <a:p>
            <a:pPr lvl="0"/>
            <a:r>
              <a:rPr b="1"/>
              <a:t>TOTAL: 50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Collection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Distribution Methods</a:t>
            </a:r>
          </a:p>
          <a:p>
            <a:pPr lvl="0"/>
            <a:r>
              <a:rPr/>
              <a:t>📱 Online (Google Forms)</a:t>
            </a:r>
          </a:p>
          <a:p>
            <a:pPr lvl="0"/>
            <a:r>
              <a:rPr/>
              <a:t>📧 Email</a:t>
            </a:r>
          </a:p>
          <a:p>
            <a:pPr lvl="0"/>
            <a:r>
              <a:rPr/>
              <a:t>📱 Social Media</a:t>
            </a:r>
          </a:p>
          <a:p>
            <a:pPr lvl="0"/>
            <a:r>
              <a:rPr/>
              <a:t>👥 Face-to-face</a:t>
            </a:r>
          </a:p>
          <a:p>
            <a:pPr lvl="0"/>
            <a:r>
              <a:rPr/>
              <a:t>📊 QR codes on campus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Analysis Tools</a:t>
            </a:r>
          </a:p>
          <a:p>
            <a:pPr lvl="0"/>
            <a:r>
              <a:rPr/>
              <a:t>Excel / SPSS</a:t>
            </a:r>
          </a:p>
          <a:p>
            <a:pPr lvl="0"/>
            <a:r>
              <a:rPr/>
              <a:t>Python / R</a:t>
            </a:r>
          </a:p>
          <a:p>
            <a:pPr lvl="0"/>
            <a:r>
              <a:rPr/>
              <a:t>Tableau for visualization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Timeline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Survey Design &amp;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Pilot Study (75-100)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Collection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Analysis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Presentation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📊 Student demographics &amp; buying behavior</a:t>
            </a:r>
          </a:p>
          <a:p>
            <a:pPr lvl="0"/>
            <a:r>
              <a:rPr/>
              <a:t>📈 Interest level in campus art market</a:t>
            </a:r>
          </a:p>
          <a:p>
            <a:pPr lvl="0"/>
            <a:r>
              <a:rPr/>
              <a:t>🎨 Preferred product categories</a:t>
            </a:r>
          </a:p>
          <a:p>
            <a:pPr lvl="0"/>
            <a:r>
              <a:rPr/>
              <a:t>📍 Optimal market location &amp; timing</a:t>
            </a:r>
          </a:p>
          <a:p>
            <a:pPr lvl="0"/>
            <a:r>
              <a:rPr/>
              <a:t>💰 Spending patterns</a:t>
            </a:r>
          </a:p>
          <a:p>
            <a:pPr lvl="0"/>
            <a:r>
              <a:rPr/>
              <a:t>👩‍🎨 Student artist participation interest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📧 Contact:</a:t>
            </a:r>
            <a:r>
              <a:rPr/>
              <a:t> [Your Email]</a:t>
            </a:r>
          </a:p>
          <a:p>
            <a:pPr lvl="0" indent="0" marL="0">
              <a:buNone/>
            </a:pPr>
            <a:r>
              <a:rPr b="1"/>
              <a:t>Thank you for your attention!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Art Market Survey</dc:title>
  <dc:creator>Your Name</dc:creator>
  <cp:keywords/>
  <dcterms:created xsi:type="dcterms:W3CDTF">2026-03-15T17:28:24Z</dcterms:created>
  <dcterms:modified xsi:type="dcterms:W3CDTF">2026-03-15T17:28:24Z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2026</vt:lpwstr>
  </property>
  <property fmtid="{D5CDD505-2E9C-101B-9397-08002B2CF9AE}" pid="3" name="theme">
    <vt:lpwstr>Berlin</vt:lpwstr>
  </property>
</Properties>
</file>